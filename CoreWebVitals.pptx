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andres ortiz marin" userId="d58da9ab536dd5bd" providerId="LiveId" clId="{2540E4F4-3D0B-4205-A945-8F34525A0EE1}"/>
    <pc:docChg chg="custSel modSld">
      <pc:chgData name="jose andres ortiz marin" userId="d58da9ab536dd5bd" providerId="LiveId" clId="{2540E4F4-3D0B-4205-A945-8F34525A0EE1}" dt="2026-05-30T19:35:50.229" v="95" actId="14100"/>
      <pc:docMkLst>
        <pc:docMk/>
      </pc:docMkLst>
      <pc:sldChg chg="delSp modSp mod">
        <pc:chgData name="jose andres ortiz marin" userId="d58da9ab536dd5bd" providerId="LiveId" clId="{2540E4F4-3D0B-4205-A945-8F34525A0EE1}" dt="2026-05-30T19:35:10.017" v="94" actId="1076"/>
        <pc:sldMkLst>
          <pc:docMk/>
          <pc:sldMk cId="0" sldId="256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5:03.093" v="92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5:04.697" v="93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5:10.017" v="94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34.907" v="2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jose andres ortiz marin" userId="d58da9ab536dd5bd" providerId="LiveId" clId="{2540E4F4-3D0B-4205-A945-8F34525A0EE1}" dt="2026-05-30T19:32:18.804" v="7" actId="790"/>
        <pc:sldMkLst>
          <pc:docMk/>
          <pc:sldMk cId="0" sldId="257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jose andres ortiz marin" userId="d58da9ab536dd5bd" providerId="LiveId" clId="{2540E4F4-3D0B-4205-A945-8F34525A0EE1}" dt="2026-05-30T19:33:07.990" v="32" actId="14100"/>
        <pc:sldMkLst>
          <pc:docMk/>
          <pc:sldMk cId="0" sldId="258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3:00.920" v="30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3:05.136" v="31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3:07.990" v="32" actId="14100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8"/>
            <ac:spMk id="31" creationId="{00000000-0000-0000-0000-000000000000}"/>
          </ac:spMkLst>
        </pc:spChg>
      </pc:sldChg>
      <pc:sldChg chg="modSp mod">
        <pc:chgData name="jose andres ortiz marin" userId="d58da9ab536dd5bd" providerId="LiveId" clId="{2540E4F4-3D0B-4205-A945-8F34525A0EE1}" dt="2026-05-30T19:33:20.141" v="33" actId="1076"/>
        <pc:sldMkLst>
          <pc:docMk/>
          <pc:sldMk cId="0" sldId="259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3:20.141" v="3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2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jose andres ortiz marin" userId="d58da9ab536dd5bd" providerId="LiveId" clId="{2540E4F4-3D0B-4205-A945-8F34525A0EE1}" dt="2026-05-30T19:32:18.804" v="7" actId="790"/>
        <pc:sldMkLst>
          <pc:docMk/>
          <pc:sldMk cId="0" sldId="260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3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4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4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5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56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0"/>
            <ac:spMk id="57" creationId="{00000000-0000-0000-0000-000000000000}"/>
          </ac:spMkLst>
        </pc:spChg>
      </pc:sldChg>
      <pc:sldChg chg="modSp mod">
        <pc:chgData name="jose andres ortiz marin" userId="d58da9ab536dd5bd" providerId="LiveId" clId="{2540E4F4-3D0B-4205-A945-8F34525A0EE1}" dt="2026-05-30T19:32:18.804" v="7" actId="790"/>
        <pc:sldMkLst>
          <pc:docMk/>
          <pc:sldMk cId="0" sldId="261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9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2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27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1"/>
            <ac:spMk id="33" creationId="{00000000-0000-0000-0000-000000000000}"/>
          </ac:spMkLst>
        </pc:spChg>
      </pc:sldChg>
      <pc:sldChg chg="delSp modSp mod">
        <pc:chgData name="jose andres ortiz marin" userId="d58da9ab536dd5bd" providerId="LiveId" clId="{2540E4F4-3D0B-4205-A945-8F34525A0EE1}" dt="2026-05-30T19:35:50.229" v="95" actId="14100"/>
        <pc:sldMkLst>
          <pc:docMk/>
          <pc:sldMk cId="0" sldId="262"/>
        </pc:sldMkLst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4:48.790" v="90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5:50.229" v="95" actId="14100"/>
          <ac:spMkLst>
            <pc:docMk/>
            <pc:sldMk cId="0" sldId="262"/>
            <ac:spMk id="4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00.873" v="34" actId="478"/>
          <ac:spMkLst>
            <pc:docMk/>
            <pc:sldMk cId="0" sldId="262"/>
            <ac:spMk id="5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06.823" v="37" actId="478"/>
          <ac:spMkLst>
            <pc:docMk/>
            <pc:sldMk cId="0" sldId="262"/>
            <ac:spMk id="6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09.366" v="38" actId="478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03.173" v="35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04.934" v="36" actId="478"/>
          <ac:spMkLst>
            <pc:docMk/>
            <pc:sldMk cId="0" sldId="262"/>
            <ac:spMk id="9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2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3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4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5" creationId="{00000000-0000-0000-0000-000000000000}"/>
          </ac:spMkLst>
        </pc:spChg>
        <pc:spChg chg="mod">
          <ac:chgData name="jose andres ortiz marin" userId="d58da9ab536dd5bd" providerId="LiveId" clId="{2540E4F4-3D0B-4205-A945-8F34525A0EE1}" dt="2026-05-30T19:32:18.804" v="7" actId="790"/>
          <ac:spMkLst>
            <pc:docMk/>
            <pc:sldMk cId="0" sldId="262"/>
            <ac:spMk id="16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7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8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jose andres ortiz marin" userId="d58da9ab536dd5bd" providerId="LiveId" clId="{2540E4F4-3D0B-4205-A945-8F34525A0EE1}" dt="2026-05-30T19:34:14.086" v="39" actId="478"/>
          <ac:spMkLst>
            <pc:docMk/>
            <pc:sldMk cId="0" sldId="262"/>
            <ac:spMk id="20" creationId="{00000000-0000-0000-0000-000000000000}"/>
          </ac:spMkLst>
        </pc:spChg>
        <pc:spChg chg="del mod">
          <ac:chgData name="jose andres ortiz marin" userId="d58da9ab536dd5bd" providerId="LiveId" clId="{2540E4F4-3D0B-4205-A945-8F34525A0EE1}" dt="2026-05-30T19:34:18.271" v="40" actId="478"/>
          <ac:spMkLst>
            <pc:docMk/>
            <pc:sldMk cId="0" sldId="262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958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6629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5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</a:t>
            </a:r>
            <a:endParaRPr lang="es-CR" sz="52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600" i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rendimiento centradas en la experiencia real del usuario</a:t>
            </a:r>
            <a:endParaRPr lang="es-CR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3337560"/>
            <a:ext cx="502920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3474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Valery Salas Vargas  ·  Jose Andrés Ortiz Marín</a:t>
            </a:r>
          </a:p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en Ambiente Web I  - UTN</a:t>
            </a:r>
            <a:endParaRPr lang="es-C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7132320" y="109728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0" y="1097280"/>
            <a:ext cx="502920" cy="502920"/>
          </a:xfrm>
          <a:prstGeom prst="ellipse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Shape 9"/>
          <p:cNvSpPr/>
          <p:nvPr/>
        </p:nvSpPr>
        <p:spPr>
          <a:xfrm>
            <a:off x="8412480" y="1097280"/>
            <a:ext cx="502920" cy="502920"/>
          </a:xfrm>
          <a:prstGeom prst="ellipse">
            <a:avLst/>
          </a:prstGeom>
          <a:solidFill>
            <a:srgbClr val="0D4F6E"/>
          </a:solidFill>
          <a:ln w="12700">
            <a:solidFill>
              <a:srgbClr val="0D4F6E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Text 10"/>
          <p:cNvSpPr/>
          <p:nvPr/>
        </p:nvSpPr>
        <p:spPr>
          <a:xfrm>
            <a:off x="804672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1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Core Web Vitals?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5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métricas estandarizadas por Google</a:t>
            </a:r>
            <a:r>
              <a:rPr lang="es-CR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cuantificar la experiencia real del usuario en la web.</a:t>
            </a:r>
            <a:endParaRPr lang="es-C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5819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Evalúan: velocidad de carga · interactividad · estabilidad visual</a:t>
            </a:r>
            <a:endParaRPr lang="es-C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2240280"/>
            <a:ext cx="2743200" cy="246888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noProof="0" dirty="0">
                <a:solidFill>
                  <a:srgbClr val="000000"/>
                </a:solidFill>
              </a:rPr>
              <a:t>📈</a:t>
            </a:r>
            <a:endParaRPr lang="es-CR" sz="2800" noProof="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5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s-CR" sz="1500" noProof="0" dirty="0"/>
          </a:p>
        </p:txBody>
      </p:sp>
      <p:sp>
        <p:nvSpPr>
          <p:cNvPr id="11" name="Text 9"/>
          <p:cNvSpPr/>
          <p:nvPr/>
        </p:nvSpPr>
        <p:spPr>
          <a:xfrm>
            <a:off x="411480" y="3364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oficial de ranking en Google desde 2021</a:t>
            </a:r>
            <a:endParaRPr lang="es-C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218688" y="2240280"/>
            <a:ext cx="2743200" cy="246888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Text 11"/>
          <p:cNvSpPr/>
          <p:nvPr/>
        </p:nvSpPr>
        <p:spPr>
          <a:xfrm>
            <a:off x="3218688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noProof="0" dirty="0">
                <a:solidFill>
                  <a:srgbClr val="000000"/>
                </a:solidFill>
              </a:rPr>
              <a:t>🎯</a:t>
            </a:r>
            <a:endParaRPr lang="es-CR" sz="2800" noProof="0" dirty="0"/>
          </a:p>
        </p:txBody>
      </p:sp>
      <p:sp>
        <p:nvSpPr>
          <p:cNvPr id="14" name="Text 12"/>
          <p:cNvSpPr/>
          <p:nvPr/>
        </p:nvSpPr>
        <p:spPr>
          <a:xfrm>
            <a:off x="3218688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5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</a:t>
            </a:r>
            <a:endParaRPr lang="es-CR" sz="1500" noProof="0" dirty="0"/>
          </a:p>
        </p:txBody>
      </p:sp>
      <p:sp>
        <p:nvSpPr>
          <p:cNvPr id="15" name="Text 13"/>
          <p:cNvSpPr/>
          <p:nvPr/>
        </p:nvSpPr>
        <p:spPr>
          <a:xfrm>
            <a:off x="3310128" y="3364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en carga aumentan hasta un 100% las tasas de conversión</a:t>
            </a:r>
            <a:endParaRPr lang="es-C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6117336" y="2240280"/>
            <a:ext cx="2743200" cy="246888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7" name="Text 15"/>
          <p:cNvSpPr/>
          <p:nvPr/>
        </p:nvSpPr>
        <p:spPr>
          <a:xfrm>
            <a:off x="6117336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2800" noProof="0" dirty="0">
                <a:solidFill>
                  <a:srgbClr val="000000"/>
                </a:solidFill>
              </a:rPr>
              <a:t>👤</a:t>
            </a:r>
            <a:endParaRPr lang="es-CR" sz="2800" noProof="0" dirty="0"/>
          </a:p>
        </p:txBody>
      </p:sp>
      <p:sp>
        <p:nvSpPr>
          <p:cNvPr id="18" name="Text 16"/>
          <p:cNvSpPr/>
          <p:nvPr/>
        </p:nvSpPr>
        <p:spPr>
          <a:xfrm>
            <a:off x="6117336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5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s-C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6208776" y="3364992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abandono · Usuarios más satisfechos</a:t>
            </a:r>
            <a:endParaRPr lang="es-C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2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métricas principales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6459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12471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4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s-CR" sz="2400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1664208"/>
            <a:ext cx="1371600" cy="256032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1664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900" b="1" noProof="0" dirty="0">
                <a:solidFill>
                  <a:srgbClr val="FFFFFF"/>
                </a:solidFill>
              </a:rPr>
              <a:t>Velocidad de carga</a:t>
            </a:r>
            <a:endParaRPr lang="es-CR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1691640" y="1124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</a:t>
            </a:r>
            <a:endParaRPr lang="es-C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1984248" y="1490472"/>
            <a:ext cx="4736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hasta que el elemento visual más grande aparece en pantalla.</a:t>
            </a:r>
            <a:endParaRPr lang="es-C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7040880" y="1325880"/>
            <a:ext cx="1645920" cy="50292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Text 11"/>
          <p:cNvSpPr/>
          <p:nvPr/>
        </p:nvSpPr>
        <p:spPr>
          <a:xfrm>
            <a:off x="704088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2.5 s</a:t>
            </a:r>
            <a:endParaRPr lang="es-CR" sz="1800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85039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" y="2331720"/>
            <a:ext cx="164592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240487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4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s-CR" sz="2400" noProof="0" dirty="0"/>
          </a:p>
        </p:txBody>
      </p:sp>
      <p:sp>
        <p:nvSpPr>
          <p:cNvPr id="17" name="Shape 15"/>
          <p:cNvSpPr/>
          <p:nvPr/>
        </p:nvSpPr>
        <p:spPr>
          <a:xfrm>
            <a:off x="548640" y="2944368"/>
            <a:ext cx="1371600" cy="256032"/>
          </a:xfrm>
          <a:prstGeom prst="rect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54864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900" b="1" noProof="0" dirty="0">
                <a:solidFill>
                  <a:srgbClr val="FFFFFF"/>
                </a:solidFill>
              </a:rPr>
              <a:t>Interactividad</a:t>
            </a:r>
            <a:endParaRPr lang="es-C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1691640" y="24048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Next Paint</a:t>
            </a:r>
            <a:endParaRPr lang="es-CR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1984248" y="2770632"/>
            <a:ext cx="4736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desde que el usuario interactúa hasta que el navegador actualiza la interfaz.</a:t>
            </a:r>
            <a:endParaRPr lang="es-CR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7040880" y="2606040"/>
            <a:ext cx="1645920" cy="50292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7040880" y="2606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 ms</a:t>
            </a:r>
            <a:endParaRPr lang="es-CR" sz="1800" noProof="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8503920" cy="11430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Shape 22"/>
          <p:cNvSpPr/>
          <p:nvPr/>
        </p:nvSpPr>
        <p:spPr>
          <a:xfrm>
            <a:off x="320040" y="3611880"/>
            <a:ext cx="16459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Text 23"/>
          <p:cNvSpPr/>
          <p:nvPr/>
        </p:nvSpPr>
        <p:spPr>
          <a:xfrm>
            <a:off x="548640" y="368503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4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s-CR" sz="2400" noProof="0" dirty="0"/>
          </a:p>
        </p:txBody>
      </p:sp>
      <p:sp>
        <p:nvSpPr>
          <p:cNvPr id="26" name="Shape 24"/>
          <p:cNvSpPr/>
          <p:nvPr/>
        </p:nvSpPr>
        <p:spPr>
          <a:xfrm>
            <a:off x="548640" y="4224528"/>
            <a:ext cx="1371600" cy="256032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Text 25"/>
          <p:cNvSpPr/>
          <p:nvPr/>
        </p:nvSpPr>
        <p:spPr>
          <a:xfrm>
            <a:off x="548640" y="4224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900" b="1" noProof="0" dirty="0">
                <a:solidFill>
                  <a:srgbClr val="FFFFFF"/>
                </a:solidFill>
              </a:rPr>
              <a:t>Estabilidad visual</a:t>
            </a:r>
            <a:endParaRPr lang="es-CR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1691640" y="36850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</a:t>
            </a:r>
            <a:endParaRPr lang="es-CR" sz="1300" noProof="0" dirty="0"/>
          </a:p>
        </p:txBody>
      </p:sp>
      <p:sp>
        <p:nvSpPr>
          <p:cNvPr id="29" name="Text 27"/>
          <p:cNvSpPr/>
          <p:nvPr/>
        </p:nvSpPr>
        <p:spPr>
          <a:xfrm>
            <a:off x="1984248" y="4050792"/>
            <a:ext cx="47365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si los elementos cambian de posición inesperadamente mientras el usuario lee.</a:t>
            </a:r>
            <a:endParaRPr lang="es-CR" sz="1200" noProof="0" dirty="0"/>
          </a:p>
        </p:txBody>
      </p:sp>
      <p:sp>
        <p:nvSpPr>
          <p:cNvPr id="30" name="Shape 28"/>
          <p:cNvSpPr/>
          <p:nvPr/>
        </p:nvSpPr>
        <p:spPr>
          <a:xfrm>
            <a:off x="7040880" y="3886200"/>
            <a:ext cx="164592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7040880" y="3886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</a:t>
            </a:r>
            <a:endParaRPr lang="es-CR" sz="1800" noProof="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3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miden?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01168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6" name="Shape 4"/>
          <p:cNvSpPr/>
          <p:nvPr/>
        </p:nvSpPr>
        <p:spPr>
          <a:xfrm>
            <a:off x="1005840" y="1170432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R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s-C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29768" y="230428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eventos del ciclo de vida (carga, pintura, input) en la Performance Timeline.</a:t>
            </a:r>
            <a:endParaRPr lang="es-CR" sz="1150" noProof="0" dirty="0"/>
          </a:p>
        </p:txBody>
      </p:sp>
      <p:sp>
        <p:nvSpPr>
          <p:cNvPr id="10" name="Shape 8"/>
          <p:cNvSpPr/>
          <p:nvPr/>
        </p:nvSpPr>
        <p:spPr>
          <a:xfrm>
            <a:off x="2331720" y="239572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1" name="Text 9"/>
          <p:cNvSpPr/>
          <p:nvPr/>
        </p:nvSpPr>
        <p:spPr>
          <a:xfrm>
            <a:off x="2322576" y="2295143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00B4D8"/>
                </a:solidFill>
              </a:rPr>
              <a:t>▶</a:t>
            </a:r>
            <a:endParaRPr lang="es-C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532888" y="1097280"/>
            <a:ext cx="201168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3" name="Shape 11"/>
          <p:cNvSpPr/>
          <p:nvPr/>
        </p:nvSpPr>
        <p:spPr>
          <a:xfrm>
            <a:off x="3218688" y="1170432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3218688" y="1170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R" sz="1800" noProof="0" dirty="0"/>
          </a:p>
        </p:txBody>
      </p:sp>
      <p:sp>
        <p:nvSpPr>
          <p:cNvPr id="15" name="Text 13"/>
          <p:cNvSpPr/>
          <p:nvPr/>
        </p:nvSpPr>
        <p:spPr>
          <a:xfrm>
            <a:off x="2624328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300" b="1" noProof="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PerformanceObserver</a:t>
            </a:r>
            <a:endParaRPr lang="es-CR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2642616" y="230428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Actúa como </a:t>
            </a:r>
            <a:r>
              <a:rPr lang="es-CR" sz="11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</a:t>
            </a: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asíncrono, capturando las métricas en tiempo real.</a:t>
            </a:r>
            <a:endParaRPr lang="es-C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4544568" y="239572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4544568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00B4D8"/>
                </a:solidFill>
              </a:rPr>
              <a:t>▶</a:t>
            </a:r>
            <a:endParaRPr lang="es-C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745736" y="1097280"/>
            <a:ext cx="201168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Shape 18"/>
          <p:cNvSpPr/>
          <p:nvPr/>
        </p:nvSpPr>
        <p:spPr>
          <a:xfrm>
            <a:off x="5431536" y="1170432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1" name="Text 19"/>
          <p:cNvSpPr/>
          <p:nvPr/>
        </p:nvSpPr>
        <p:spPr>
          <a:xfrm>
            <a:off x="5431536" y="1170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R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4837176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300" b="1" noProof="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s-CR" sz="1300" noProof="0" dirty="0"/>
          </a:p>
        </p:txBody>
      </p:sp>
      <p:sp>
        <p:nvSpPr>
          <p:cNvPr id="23" name="Text 21"/>
          <p:cNvSpPr/>
          <p:nvPr/>
        </p:nvSpPr>
        <p:spPr>
          <a:xfrm>
            <a:off x="4855464" y="230428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lote de objetos </a:t>
            </a:r>
            <a:r>
              <a:rPr lang="es-CR" sz="115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PerformanceEntry</a:t>
            </a: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duración, timestamp y tipo.</a:t>
            </a:r>
            <a:endParaRPr lang="es-CR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6757416" y="2395728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Text 23"/>
          <p:cNvSpPr/>
          <p:nvPr/>
        </p:nvSpPr>
        <p:spPr>
          <a:xfrm>
            <a:off x="6757416" y="23134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000" noProof="0" dirty="0">
                <a:solidFill>
                  <a:srgbClr val="00B4D8"/>
                </a:solidFill>
              </a:rPr>
              <a:t>▶</a:t>
            </a:r>
            <a:endParaRPr lang="es-CR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6958584" y="1097280"/>
            <a:ext cx="2011680" cy="2560320"/>
          </a:xfrm>
          <a:prstGeom prst="rect">
            <a:avLst/>
          </a:prstGeom>
          <a:solidFill>
            <a:srgbClr val="132030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27" name="Shape 25"/>
          <p:cNvSpPr/>
          <p:nvPr/>
        </p:nvSpPr>
        <p:spPr>
          <a:xfrm>
            <a:off x="7644384" y="1170432"/>
            <a:ext cx="621792" cy="6217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Text 26"/>
          <p:cNvSpPr/>
          <p:nvPr/>
        </p:nvSpPr>
        <p:spPr>
          <a:xfrm>
            <a:off x="7644384" y="117043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R" sz="18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R" sz="1800" noProof="0" dirty="0"/>
          </a:p>
        </p:txBody>
      </p:sp>
      <p:sp>
        <p:nvSpPr>
          <p:cNvPr id="29" name="Text 27"/>
          <p:cNvSpPr/>
          <p:nvPr/>
        </p:nvSpPr>
        <p:spPr>
          <a:xfrm>
            <a:off x="7050024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3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s-CR" sz="1300" noProof="0" dirty="0"/>
          </a:p>
        </p:txBody>
      </p:sp>
      <p:sp>
        <p:nvSpPr>
          <p:cNvPr id="30" name="Text 28"/>
          <p:cNvSpPr/>
          <p:nvPr/>
        </p:nvSpPr>
        <p:spPr>
          <a:xfrm>
            <a:off x="7068312" y="2304288"/>
            <a:ext cx="179222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envían a herramientas como Google Analytics o Search Console.</a:t>
            </a:r>
            <a:endParaRPr lang="es-CR" sz="1150" noProof="0" dirty="0"/>
          </a:p>
        </p:txBody>
      </p:sp>
      <p:sp>
        <p:nvSpPr>
          <p:cNvPr id="31" name="Text 29"/>
          <p:cNvSpPr/>
          <p:nvPr/>
        </p:nvSpPr>
        <p:spPr>
          <a:xfrm>
            <a:off x="320040" y="3840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tipos de datos:</a:t>
            </a:r>
            <a:endParaRPr lang="es-CR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2423160" y="3794760"/>
            <a:ext cx="283464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3" name="Text 31"/>
          <p:cNvSpPr/>
          <p:nvPr/>
        </p:nvSpPr>
        <p:spPr>
          <a:xfrm>
            <a:off x="25146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Laboratorio</a:t>
            </a:r>
            <a:endParaRPr lang="es-CR" sz="1300" noProof="0" dirty="0"/>
          </a:p>
        </p:txBody>
      </p:sp>
      <p:sp>
        <p:nvSpPr>
          <p:cNvPr id="34" name="Text 32"/>
          <p:cNvSpPr/>
          <p:nvPr/>
        </p:nvSpPr>
        <p:spPr>
          <a:xfrm>
            <a:off x="2514600" y="4206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— diagnóstico rápido</a:t>
            </a:r>
            <a:endParaRPr lang="es-CR" sz="1100" noProof="0" dirty="0"/>
          </a:p>
        </p:txBody>
      </p:sp>
      <p:sp>
        <p:nvSpPr>
          <p:cNvPr id="35" name="Shape 33"/>
          <p:cNvSpPr/>
          <p:nvPr/>
        </p:nvSpPr>
        <p:spPr>
          <a:xfrm>
            <a:off x="5440680" y="3794760"/>
            <a:ext cx="283464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6" name="Text 34"/>
          <p:cNvSpPr/>
          <p:nvPr/>
        </p:nvSpPr>
        <p:spPr>
          <a:xfrm>
            <a:off x="553212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Campo (RUM)</a:t>
            </a:r>
            <a:endParaRPr lang="es-CR" sz="1300" noProof="0" dirty="0"/>
          </a:p>
        </p:txBody>
      </p:sp>
      <p:sp>
        <p:nvSpPr>
          <p:cNvPr id="37" name="Text 35"/>
          <p:cNvSpPr/>
          <p:nvPr/>
        </p:nvSpPr>
        <p:spPr>
          <a:xfrm>
            <a:off x="5532120" y="4206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CrUX</a:t>
            </a:r>
            <a:r>
              <a:rPr lang="es-C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Search Console — usuarios reales</a:t>
            </a:r>
            <a:endParaRPr lang="es-CR" sz="1100" noProof="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4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CWV vs. métricas anteriores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28016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s-CR" sz="1200" noProof="0" dirty="0"/>
          </a:p>
        </p:txBody>
      </p:sp>
      <p:sp>
        <p:nvSpPr>
          <p:cNvPr id="7" name="Shape 5"/>
          <p:cNvSpPr/>
          <p:nvPr/>
        </p:nvSpPr>
        <p:spPr>
          <a:xfrm>
            <a:off x="1600200" y="1005840"/>
            <a:ext cx="329184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8" name="Text 6"/>
          <p:cNvSpPr/>
          <p:nvPr/>
        </p:nvSpPr>
        <p:spPr>
          <a:xfrm>
            <a:off x="164592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mide</a:t>
            </a:r>
            <a:endParaRPr lang="es-C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4892040" y="1005840"/>
            <a:ext cx="201168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s-CR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6903720" y="1005840"/>
            <a:ext cx="146304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Text 10"/>
          <p:cNvSpPr/>
          <p:nvPr/>
        </p:nvSpPr>
        <p:spPr>
          <a:xfrm>
            <a:off x="694944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</a:t>
            </a:r>
            <a:endParaRPr lang="es-CR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320040" y="1463040"/>
            <a:ext cx="128016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s-CR" sz="1150" noProof="0" dirty="0"/>
          </a:p>
        </p:txBody>
      </p:sp>
      <p:sp>
        <p:nvSpPr>
          <p:cNvPr id="15" name="Shape 13"/>
          <p:cNvSpPr/>
          <p:nvPr/>
        </p:nvSpPr>
        <p:spPr>
          <a:xfrm>
            <a:off x="1600200" y="1463040"/>
            <a:ext cx="32918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1645920" y="1463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carga visual</a:t>
            </a:r>
            <a:endParaRPr lang="es-C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4892040" y="1463040"/>
            <a:ext cx="20116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8" name="Text 16"/>
          <p:cNvSpPr/>
          <p:nvPr/>
        </p:nvSpPr>
        <p:spPr>
          <a:xfrm>
            <a:off x="493776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CWV activo</a:t>
            </a:r>
            <a:endParaRPr lang="es-CR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6903720" y="1463040"/>
            <a:ext cx="14630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0" name="Text 18"/>
          <p:cNvSpPr/>
          <p:nvPr/>
        </p:nvSpPr>
        <p:spPr>
          <a:xfrm>
            <a:off x="694944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2.5 s</a:t>
            </a:r>
            <a:endParaRPr lang="es-C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" y="1920240"/>
            <a:ext cx="128016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19202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s-CR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1600200" y="1920240"/>
            <a:ext cx="32918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4" name="Text 22"/>
          <p:cNvSpPr/>
          <p:nvPr/>
        </p:nvSpPr>
        <p:spPr>
          <a:xfrm>
            <a:off x="1645920" y="1920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interacciones</a:t>
            </a:r>
            <a:endParaRPr lang="es-CR" sz="1150" noProof="0" dirty="0"/>
          </a:p>
        </p:txBody>
      </p:sp>
      <p:sp>
        <p:nvSpPr>
          <p:cNvPr id="25" name="Shape 23"/>
          <p:cNvSpPr/>
          <p:nvPr/>
        </p:nvSpPr>
        <p:spPr>
          <a:xfrm>
            <a:off x="4892040" y="1920240"/>
            <a:ext cx="201168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6" name="Text 24"/>
          <p:cNvSpPr/>
          <p:nvPr/>
        </p:nvSpPr>
        <p:spPr>
          <a:xfrm>
            <a:off x="493776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CWV activo</a:t>
            </a:r>
            <a:endParaRPr lang="es-CR" sz="1150" noProof="0" dirty="0"/>
          </a:p>
        </p:txBody>
      </p:sp>
      <p:sp>
        <p:nvSpPr>
          <p:cNvPr id="27" name="Shape 25"/>
          <p:cNvSpPr/>
          <p:nvPr/>
        </p:nvSpPr>
        <p:spPr>
          <a:xfrm>
            <a:off x="6903720" y="1920240"/>
            <a:ext cx="14630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Text 26"/>
          <p:cNvSpPr/>
          <p:nvPr/>
        </p:nvSpPr>
        <p:spPr>
          <a:xfrm>
            <a:off x="694944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 ms</a:t>
            </a:r>
            <a:endParaRPr lang="es-CR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320040" y="2377440"/>
            <a:ext cx="128016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0" name="Text 28"/>
          <p:cNvSpPr/>
          <p:nvPr/>
        </p:nvSpPr>
        <p:spPr>
          <a:xfrm>
            <a:off x="36576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s-CR" sz="1150" noProof="0" dirty="0"/>
          </a:p>
        </p:txBody>
      </p:sp>
      <p:sp>
        <p:nvSpPr>
          <p:cNvPr id="31" name="Shape 29"/>
          <p:cNvSpPr/>
          <p:nvPr/>
        </p:nvSpPr>
        <p:spPr>
          <a:xfrm>
            <a:off x="1600200" y="2377440"/>
            <a:ext cx="32918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2" name="Text 30"/>
          <p:cNvSpPr/>
          <p:nvPr/>
        </p:nvSpPr>
        <p:spPr>
          <a:xfrm>
            <a:off x="164592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visual</a:t>
            </a:r>
            <a:endParaRPr lang="es-CR" sz="1150" noProof="0" dirty="0"/>
          </a:p>
        </p:txBody>
      </p:sp>
      <p:sp>
        <p:nvSpPr>
          <p:cNvPr id="33" name="Shape 31"/>
          <p:cNvSpPr/>
          <p:nvPr/>
        </p:nvSpPr>
        <p:spPr>
          <a:xfrm>
            <a:off x="4892040" y="2377440"/>
            <a:ext cx="20116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4" name="Text 32"/>
          <p:cNvSpPr/>
          <p:nvPr/>
        </p:nvSpPr>
        <p:spPr>
          <a:xfrm>
            <a:off x="4937760" y="2377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CWV activo</a:t>
            </a:r>
            <a:endParaRPr lang="es-CR" sz="1150" noProof="0" dirty="0"/>
          </a:p>
        </p:txBody>
      </p:sp>
      <p:sp>
        <p:nvSpPr>
          <p:cNvPr id="35" name="Shape 33"/>
          <p:cNvSpPr/>
          <p:nvPr/>
        </p:nvSpPr>
        <p:spPr>
          <a:xfrm>
            <a:off x="6903720" y="2377440"/>
            <a:ext cx="14630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6" name="Text 34"/>
          <p:cNvSpPr/>
          <p:nvPr/>
        </p:nvSpPr>
        <p:spPr>
          <a:xfrm>
            <a:off x="694944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0.1</a:t>
            </a:r>
            <a:endParaRPr lang="es-CR" sz="1150" noProof="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128016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8" name="Text 36"/>
          <p:cNvSpPr/>
          <p:nvPr/>
        </p:nvSpPr>
        <p:spPr>
          <a:xfrm>
            <a:off x="365760" y="2834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</a:t>
            </a:r>
            <a:endParaRPr lang="es-CR" sz="1150" noProof="0" dirty="0"/>
          </a:p>
        </p:txBody>
      </p:sp>
      <p:sp>
        <p:nvSpPr>
          <p:cNvPr id="39" name="Shape 37"/>
          <p:cNvSpPr/>
          <p:nvPr/>
        </p:nvSpPr>
        <p:spPr>
          <a:xfrm>
            <a:off x="1600200" y="2834640"/>
            <a:ext cx="32918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0" name="Text 38"/>
          <p:cNvSpPr/>
          <p:nvPr/>
        </p:nvSpPr>
        <p:spPr>
          <a:xfrm>
            <a:off x="16459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al primer input</a:t>
            </a:r>
            <a:endParaRPr lang="es-CR" sz="1150" noProof="0" dirty="0"/>
          </a:p>
        </p:txBody>
      </p:sp>
      <p:sp>
        <p:nvSpPr>
          <p:cNvPr id="41" name="Shape 39"/>
          <p:cNvSpPr/>
          <p:nvPr/>
        </p:nvSpPr>
        <p:spPr>
          <a:xfrm>
            <a:off x="4892040" y="2834640"/>
            <a:ext cx="201168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2" name="Text 40"/>
          <p:cNvSpPr/>
          <p:nvPr/>
        </p:nvSpPr>
        <p:spPr>
          <a:xfrm>
            <a:off x="4937760" y="2834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Reemplazado</a:t>
            </a:r>
            <a:endParaRPr lang="es-CR" sz="1150" noProof="0" dirty="0"/>
          </a:p>
        </p:txBody>
      </p:sp>
      <p:sp>
        <p:nvSpPr>
          <p:cNvPr id="43" name="Shape 41"/>
          <p:cNvSpPr/>
          <p:nvPr/>
        </p:nvSpPr>
        <p:spPr>
          <a:xfrm>
            <a:off x="6903720" y="2834640"/>
            <a:ext cx="14630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4" name="Text 42"/>
          <p:cNvSpPr/>
          <p:nvPr/>
        </p:nvSpPr>
        <p:spPr>
          <a:xfrm>
            <a:off x="694944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100 ms</a:t>
            </a:r>
            <a:endParaRPr lang="es-CR" sz="1150" noProof="0" dirty="0"/>
          </a:p>
        </p:txBody>
      </p:sp>
      <p:sp>
        <p:nvSpPr>
          <p:cNvPr id="45" name="Shape 43"/>
          <p:cNvSpPr/>
          <p:nvPr/>
        </p:nvSpPr>
        <p:spPr>
          <a:xfrm>
            <a:off x="320040" y="3291840"/>
            <a:ext cx="128016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6" name="Text 44"/>
          <p:cNvSpPr/>
          <p:nvPr/>
        </p:nvSpPr>
        <p:spPr>
          <a:xfrm>
            <a:off x="365760" y="32918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</a:t>
            </a:r>
            <a:endParaRPr lang="es-CR" sz="1150" noProof="0" dirty="0"/>
          </a:p>
        </p:txBody>
      </p:sp>
      <p:sp>
        <p:nvSpPr>
          <p:cNvPr id="47" name="Shape 45"/>
          <p:cNvSpPr/>
          <p:nvPr/>
        </p:nvSpPr>
        <p:spPr>
          <a:xfrm>
            <a:off x="1600200" y="3291840"/>
            <a:ext cx="32918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48" name="Text 46"/>
          <p:cNvSpPr/>
          <p:nvPr/>
        </p:nvSpPr>
        <p:spPr>
          <a:xfrm>
            <a:off x="164592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pixel de contenido</a:t>
            </a:r>
            <a:endParaRPr lang="es-CR" sz="1150" noProof="0" dirty="0"/>
          </a:p>
        </p:txBody>
      </p:sp>
      <p:sp>
        <p:nvSpPr>
          <p:cNvPr id="49" name="Shape 47"/>
          <p:cNvSpPr/>
          <p:nvPr/>
        </p:nvSpPr>
        <p:spPr>
          <a:xfrm>
            <a:off x="4892040" y="3291840"/>
            <a:ext cx="201168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0" name="Text 48"/>
          <p:cNvSpPr/>
          <p:nvPr/>
        </p:nvSpPr>
        <p:spPr>
          <a:xfrm>
            <a:off x="4937760" y="32918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Suplementaria</a:t>
            </a:r>
            <a:endParaRPr lang="es-CR" sz="1150" noProof="0" dirty="0"/>
          </a:p>
        </p:txBody>
      </p:sp>
      <p:sp>
        <p:nvSpPr>
          <p:cNvPr id="51" name="Shape 49"/>
          <p:cNvSpPr/>
          <p:nvPr/>
        </p:nvSpPr>
        <p:spPr>
          <a:xfrm>
            <a:off x="6903720" y="3291840"/>
            <a:ext cx="1463040" cy="457200"/>
          </a:xfrm>
          <a:prstGeom prst="rect">
            <a:avLst/>
          </a:prstGeom>
          <a:solidFill>
            <a:srgbClr val="132030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2" name="Text 50"/>
          <p:cNvSpPr/>
          <p:nvPr/>
        </p:nvSpPr>
        <p:spPr>
          <a:xfrm>
            <a:off x="694944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1.8 s</a:t>
            </a:r>
            <a:endParaRPr lang="es-CR" sz="1150" noProof="0" dirty="0"/>
          </a:p>
        </p:txBody>
      </p:sp>
      <p:sp>
        <p:nvSpPr>
          <p:cNvPr id="53" name="Shape 51"/>
          <p:cNvSpPr/>
          <p:nvPr/>
        </p:nvSpPr>
        <p:spPr>
          <a:xfrm>
            <a:off x="320040" y="3749040"/>
            <a:ext cx="128016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4" name="Text 52"/>
          <p:cNvSpPr/>
          <p:nvPr/>
        </p:nvSpPr>
        <p:spPr>
          <a:xfrm>
            <a:off x="365760" y="3749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b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TTFB</a:t>
            </a:r>
            <a:endParaRPr lang="es-CR" sz="1150" noProof="0" dirty="0"/>
          </a:p>
        </p:txBody>
      </p:sp>
      <p:sp>
        <p:nvSpPr>
          <p:cNvPr id="55" name="Shape 53"/>
          <p:cNvSpPr/>
          <p:nvPr/>
        </p:nvSpPr>
        <p:spPr>
          <a:xfrm>
            <a:off x="1600200" y="3749040"/>
            <a:ext cx="32918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6" name="Text 54"/>
          <p:cNvSpPr/>
          <p:nvPr/>
        </p:nvSpPr>
        <p:spPr>
          <a:xfrm>
            <a:off x="1645920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al primer byte</a:t>
            </a:r>
            <a:endParaRPr lang="es-CR" sz="1150" noProof="0" dirty="0"/>
          </a:p>
        </p:txBody>
      </p:sp>
      <p:sp>
        <p:nvSpPr>
          <p:cNvPr id="57" name="Shape 55"/>
          <p:cNvSpPr/>
          <p:nvPr/>
        </p:nvSpPr>
        <p:spPr>
          <a:xfrm>
            <a:off x="4892040" y="3749040"/>
            <a:ext cx="201168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8" name="Text 56"/>
          <p:cNvSpPr/>
          <p:nvPr/>
        </p:nvSpPr>
        <p:spPr>
          <a:xfrm>
            <a:off x="493776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Suplementaria</a:t>
            </a:r>
            <a:endParaRPr lang="es-CR" sz="1150" noProof="0" dirty="0"/>
          </a:p>
        </p:txBody>
      </p:sp>
      <p:sp>
        <p:nvSpPr>
          <p:cNvPr id="59" name="Shape 57"/>
          <p:cNvSpPr/>
          <p:nvPr/>
        </p:nvSpPr>
        <p:spPr>
          <a:xfrm>
            <a:off x="6903720" y="3749040"/>
            <a:ext cx="146304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60" name="Text 58"/>
          <p:cNvSpPr/>
          <p:nvPr/>
        </p:nvSpPr>
        <p:spPr>
          <a:xfrm>
            <a:off x="694944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800 ms</a:t>
            </a:r>
            <a:endParaRPr lang="es-CR" sz="1150" noProof="0" dirty="0"/>
          </a:p>
        </p:txBody>
      </p:sp>
      <p:sp>
        <p:nvSpPr>
          <p:cNvPr id="61" name="Text 59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5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y herramientas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2743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432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4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s-CR" sz="48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8928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 aprueba</a:t>
            </a:r>
            <a:endParaRPr lang="es-CR" sz="1150" noProof="0" dirty="0"/>
          </a:p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métricas</a:t>
            </a:r>
            <a:endParaRPr lang="es-CR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218688" y="1051560"/>
            <a:ext cx="27432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9" name="Text 7"/>
          <p:cNvSpPr/>
          <p:nvPr/>
        </p:nvSpPr>
        <p:spPr>
          <a:xfrm>
            <a:off x="3218688" y="11155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4800" b="1" noProof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s-CR" sz="4800" noProof="0" dirty="0"/>
          </a:p>
        </p:txBody>
      </p:sp>
      <p:sp>
        <p:nvSpPr>
          <p:cNvPr id="10" name="Text 8"/>
          <p:cNvSpPr/>
          <p:nvPr/>
        </p:nvSpPr>
        <p:spPr>
          <a:xfrm>
            <a:off x="3310128" y="18928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 aprueba</a:t>
            </a:r>
            <a:endParaRPr lang="es-CR" sz="1150" noProof="0" dirty="0"/>
          </a:p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métricas</a:t>
            </a:r>
            <a:endParaRPr lang="es-CR" sz="1150" noProof="0" dirty="0"/>
          </a:p>
        </p:txBody>
      </p:sp>
      <p:sp>
        <p:nvSpPr>
          <p:cNvPr id="11" name="Shape 9"/>
          <p:cNvSpPr/>
          <p:nvPr/>
        </p:nvSpPr>
        <p:spPr>
          <a:xfrm>
            <a:off x="6117336" y="1051560"/>
            <a:ext cx="274320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R" noProof="0" dirty="0"/>
          </a:p>
        </p:txBody>
      </p:sp>
      <p:sp>
        <p:nvSpPr>
          <p:cNvPr id="12" name="Text 10"/>
          <p:cNvSpPr/>
          <p:nvPr/>
        </p:nvSpPr>
        <p:spPr>
          <a:xfrm>
            <a:off x="6117336" y="111556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48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s-CR" sz="4800" noProof="0" dirty="0"/>
          </a:p>
        </p:txBody>
      </p:sp>
      <p:sp>
        <p:nvSpPr>
          <p:cNvPr id="13" name="Text 11"/>
          <p:cNvSpPr/>
          <p:nvPr/>
        </p:nvSpPr>
        <p:spPr>
          <a:xfrm>
            <a:off x="6208776" y="189280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dominios con</a:t>
            </a:r>
            <a:endParaRPr lang="es-CR" sz="1150" noProof="0" dirty="0"/>
          </a:p>
          <a:p>
            <a:pPr marL="0" indent="0" algn="ctr">
              <a:buNone/>
            </a:pPr>
            <a:r>
              <a:rPr lang="es-CR" sz="11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experiencia INP</a:t>
            </a:r>
            <a:endParaRPr lang="es-CR" sz="1150" noProof="0" dirty="0"/>
          </a:p>
        </p:txBody>
      </p:sp>
      <p:sp>
        <p:nvSpPr>
          <p:cNvPr id="14" name="Text 12"/>
          <p:cNvSpPr/>
          <p:nvPr/>
        </p:nvSpPr>
        <p:spPr>
          <a:xfrm>
            <a:off x="320040" y="27889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clave</a:t>
            </a:r>
            <a:endParaRPr lang="es-CR" sz="1400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" y="32735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6" name="Text 14"/>
          <p:cNvSpPr/>
          <p:nvPr/>
        </p:nvSpPr>
        <p:spPr>
          <a:xfrm>
            <a:off x="576072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 Insights</a:t>
            </a:r>
            <a:endParaRPr lang="es-CR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576072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+ campo, gratis</a:t>
            </a:r>
            <a:endParaRPr lang="es-CR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20040" y="37490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19" name="Text 17"/>
          <p:cNvSpPr/>
          <p:nvPr/>
        </p:nvSpPr>
        <p:spPr>
          <a:xfrm>
            <a:off x="576072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</a:t>
            </a:r>
            <a:endParaRPr lang="es-CR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576072" y="39227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campo reales</a:t>
            </a:r>
            <a:endParaRPr lang="es-CR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320040" y="42245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2" name="Text 20"/>
          <p:cNvSpPr/>
          <p:nvPr/>
        </p:nvSpPr>
        <p:spPr>
          <a:xfrm>
            <a:off x="576072" y="4151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</a:t>
            </a:r>
            <a:endParaRPr lang="es-C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576072" y="43982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local detallado</a:t>
            </a:r>
            <a:endParaRPr lang="es-C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4663440" y="32735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5" name="Text 23"/>
          <p:cNvSpPr/>
          <p:nvPr/>
        </p:nvSpPr>
        <p:spPr>
          <a:xfrm>
            <a:off x="4919472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UX Report (</a:t>
            </a:r>
            <a:r>
              <a:rPr lang="es-C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CrUX</a:t>
            </a: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4919472" y="34472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pública de </a:t>
            </a:r>
            <a:r>
              <a:rPr lang="es-CR" sz="10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</a:t>
            </a:r>
            <a:endParaRPr lang="es-CR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28" name="Text 26"/>
          <p:cNvSpPr/>
          <p:nvPr/>
        </p:nvSpPr>
        <p:spPr>
          <a:xfrm>
            <a:off x="4919472" y="36758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@google/web-vitals (</a:t>
            </a:r>
            <a:r>
              <a:rPr lang="es-C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</a:t>
            </a: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CR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4919472" y="3922776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RUM en JavaScript</a:t>
            </a:r>
            <a:endParaRPr lang="es-CR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4663440" y="422452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1" name="Text 29"/>
          <p:cNvSpPr/>
          <p:nvPr/>
        </p:nvSpPr>
        <p:spPr>
          <a:xfrm>
            <a:off x="4919472" y="4151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</a:t>
            </a:r>
            <a:r>
              <a:rPr lang="es-C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</a:t>
            </a:r>
            <a:r>
              <a:rPr lang="es-C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Vite</a:t>
            </a:r>
            <a:endParaRPr lang="es-CR" sz="1200" noProof="0" dirty="0"/>
          </a:p>
        </p:txBody>
      </p:sp>
      <p:sp>
        <p:nvSpPr>
          <p:cNvPr id="32" name="Text 30"/>
          <p:cNvSpPr/>
          <p:nvPr/>
        </p:nvSpPr>
        <p:spPr>
          <a:xfrm>
            <a:off x="4919472" y="439826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CWV por defecto</a:t>
            </a:r>
            <a:endParaRPr lang="es-C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320040" y="4773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900" i="1" noProof="0" dirty="0">
                <a:solidFill>
                  <a:srgbClr val="94A3B8"/>
                </a:solidFill>
              </a:rPr>
              <a:t>Fuente: Chrome UX Report / Google, 2025</a:t>
            </a:r>
            <a:endParaRPr lang="es-CR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8046720" y="4773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CR" sz="900" noProof="0" dirty="0">
                <a:solidFill>
                  <a:srgbClr val="94A3B8"/>
                </a:solidFill>
              </a:rPr>
              <a:t>6 / 7</a:t>
            </a:r>
            <a:endParaRPr lang="es-CR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  <p:sp>
        <p:nvSpPr>
          <p:cNvPr id="3" name="Text 1"/>
          <p:cNvSpPr/>
          <p:nvPr/>
        </p:nvSpPr>
        <p:spPr>
          <a:xfrm>
            <a:off x="5003074" y="2203704"/>
            <a:ext cx="28411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</a:t>
            </a:r>
            <a:endParaRPr lang="es-C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3304903" y="2752343"/>
            <a:ext cx="5440680" cy="45719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s-C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444</Words>
  <Application>Microsoft Office PowerPoint</Application>
  <PresentationFormat>Presentación en pantalla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Web Vitals</dc:title>
  <dc:subject>PptxGenJS Presentation</dc:subject>
  <dc:creator>PptxGenJS</dc:creator>
  <cp:lastModifiedBy>jose andres ortiz marin</cp:lastModifiedBy>
  <cp:revision>1</cp:revision>
  <dcterms:created xsi:type="dcterms:W3CDTF">2026-05-30T19:04:33Z</dcterms:created>
  <dcterms:modified xsi:type="dcterms:W3CDTF">2026-05-30T19:35:52Z</dcterms:modified>
</cp:coreProperties>
</file>